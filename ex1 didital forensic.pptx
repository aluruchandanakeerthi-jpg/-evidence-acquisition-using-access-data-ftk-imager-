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53" d="100"/>
          <a:sy n="53" d="100"/>
        </p:scale>
        <p:origin x="256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02004" y="9283395"/>
            <a:ext cx="329501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3853"/>
            <a:ext cx="5968365" cy="645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1757045">
              <a:lnSpc>
                <a:spcPct val="1433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Ex.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Evidence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Acquisition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FTK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Imager Date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88900" marR="5080" algn="just">
              <a:lnSpc>
                <a:spcPct val="1436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Forensic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Toolkit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forensics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commercial product.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forensic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investigations,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team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commercial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product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functionalities.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Imager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forensic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evidence.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25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evidence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 marL="544195" indent="-228600">
              <a:lnSpc>
                <a:spcPct val="100000"/>
              </a:lnSpc>
              <a:spcBef>
                <a:spcPts val="1220"/>
              </a:spcBef>
              <a:buSzPct val="91666"/>
              <a:buFont typeface="Calibri"/>
              <a:buChar char="●"/>
              <a:tabLst>
                <a:tab pos="544195" algn="l"/>
              </a:tabLst>
            </a:pP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544195" indent="-228600">
              <a:lnSpc>
                <a:spcPct val="100000"/>
              </a:lnSpc>
              <a:spcBef>
                <a:spcPts val="615"/>
              </a:spcBef>
              <a:buSzPct val="91666"/>
              <a:buFont typeface="Calibri"/>
              <a:buChar char="●"/>
              <a:tabLst>
                <a:tab pos="544195" algn="l"/>
              </a:tabLst>
            </a:pP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disk)</a:t>
            </a:r>
            <a:endParaRPr sz="1200">
              <a:latin typeface="Times New Roman"/>
              <a:cs typeface="Times New Roman"/>
            </a:endParaRPr>
          </a:p>
          <a:p>
            <a:pPr marL="88900" algn="just">
              <a:lnSpc>
                <a:spcPct val="100000"/>
              </a:lnSpc>
              <a:spcBef>
                <a:spcPts val="1270"/>
              </a:spcBef>
            </a:pP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forensics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acquisitions:</a:t>
            </a:r>
            <a:endParaRPr sz="1200">
              <a:latin typeface="Times New Roman"/>
              <a:cs typeface="Times New Roman"/>
            </a:endParaRPr>
          </a:p>
          <a:p>
            <a:pPr marL="544195" marR="262255" indent="-227329" algn="just">
              <a:lnSpc>
                <a:spcPct val="143300"/>
              </a:lnSpc>
              <a:spcBef>
                <a:spcPts val="600"/>
              </a:spcBef>
              <a:buSzPct val="91666"/>
              <a:buFont typeface="Calibri"/>
              <a:buChar char="●"/>
              <a:tabLst>
                <a:tab pos="545465" algn="l"/>
              </a:tabLst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portable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USB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HDD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	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evidence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machine. This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 frequently used 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live </a:t>
            </a:r>
            <a:r>
              <a:rPr sz="1200" spc="-20" dirty="0">
                <a:latin typeface="Times New Roman"/>
                <a:cs typeface="Times New Roman"/>
              </a:rPr>
              <a:t>data 	</a:t>
            </a:r>
            <a:r>
              <a:rPr sz="1200" dirty="0">
                <a:latin typeface="Times New Roman"/>
                <a:cs typeface="Times New Roman"/>
              </a:rPr>
              <a:t>acquisition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evidence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PC/laptop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switched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on.</a:t>
            </a:r>
            <a:endParaRPr sz="1200">
              <a:latin typeface="Times New Roman"/>
              <a:cs typeface="Times New Roman"/>
            </a:endParaRPr>
          </a:p>
          <a:p>
            <a:pPr marL="544195" indent="-228600" algn="just">
              <a:lnSpc>
                <a:spcPct val="100000"/>
              </a:lnSpc>
              <a:spcBef>
                <a:spcPts val="630"/>
              </a:spcBef>
              <a:buSzPct val="91666"/>
              <a:buFont typeface="Calibri"/>
              <a:buChar char="●"/>
              <a:tabLst>
                <a:tab pos="544195" algn="l"/>
              </a:tabLst>
            </a:pPr>
            <a:r>
              <a:rPr sz="1200" dirty="0">
                <a:latin typeface="Times New Roman"/>
                <a:cs typeface="Times New Roman"/>
              </a:rPr>
              <a:t>Installing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investigator’s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laptop.</a:t>
            </a:r>
            <a:endParaRPr sz="1200">
              <a:latin typeface="Times New Roman"/>
              <a:cs typeface="Times New Roman"/>
            </a:endParaRPr>
          </a:p>
          <a:p>
            <a:pPr marL="545465" marR="201930" algn="just">
              <a:lnSpc>
                <a:spcPct val="1436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mounted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investigator’s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write </a:t>
            </a:r>
            <a:r>
              <a:rPr sz="1200" dirty="0">
                <a:latin typeface="Times New Roman"/>
                <a:cs typeface="Times New Roman"/>
              </a:rPr>
              <a:t>blocker.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evidence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disk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read-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investigator’s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disk.</a:t>
            </a:r>
            <a:endParaRPr sz="1200">
              <a:latin typeface="Times New Roman"/>
              <a:cs typeface="Times New Roman"/>
            </a:endParaRPr>
          </a:p>
          <a:p>
            <a:pPr marL="88900" algn="just">
              <a:lnSpc>
                <a:spcPct val="100000"/>
              </a:lnSpc>
              <a:spcBef>
                <a:spcPts val="635"/>
              </a:spcBef>
            </a:pPr>
            <a:r>
              <a:rPr sz="1200" spc="-55" dirty="0">
                <a:latin typeface="Times New Roman"/>
                <a:cs typeface="Times New Roman"/>
              </a:rPr>
              <a:t>Acquiring </a:t>
            </a:r>
            <a:r>
              <a:rPr sz="1200" spc="-60" dirty="0">
                <a:latin typeface="Times New Roman"/>
                <a:cs typeface="Times New Roman"/>
              </a:rPr>
              <a:t>volatile </a:t>
            </a:r>
            <a:r>
              <a:rPr sz="1200" spc="-55" dirty="0">
                <a:latin typeface="Times New Roman"/>
                <a:cs typeface="Times New Roman"/>
              </a:rPr>
              <a:t>memory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using </a:t>
            </a:r>
            <a:r>
              <a:rPr sz="1200" spc="-45" dirty="0">
                <a:latin typeface="Times New Roman"/>
                <a:cs typeface="Times New Roman"/>
              </a:rPr>
              <a:t>FTK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Imager</a:t>
            </a:r>
            <a:endParaRPr sz="1200">
              <a:latin typeface="Times New Roman"/>
              <a:cs typeface="Times New Roman"/>
            </a:endParaRPr>
          </a:p>
          <a:p>
            <a:pPr marL="88900" marR="208279" algn="just">
              <a:lnSpc>
                <a:spcPct val="1425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investigators 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complete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 (RAM)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204" y="7786878"/>
            <a:ext cx="4857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icon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(capture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57200" y="914349"/>
            <a:ext cx="9525" cy="175895"/>
          </a:xfrm>
          <a:custGeom>
            <a:avLst/>
            <a:gdLst/>
            <a:ahLst/>
            <a:cxnLst/>
            <a:rect l="l" t="t" r="r" b="b"/>
            <a:pathLst>
              <a:path w="9525" h="175894">
                <a:moveTo>
                  <a:pt x="9143" y="0"/>
                </a:moveTo>
                <a:lnTo>
                  <a:pt x="0" y="0"/>
                </a:lnTo>
                <a:lnTo>
                  <a:pt x="0" y="175564"/>
                </a:lnTo>
                <a:lnTo>
                  <a:pt x="9143" y="175564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" y="1104900"/>
            <a:ext cx="3984625" cy="212597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78204" y="3400171"/>
            <a:ext cx="5893435" cy="288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3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NOTE: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pagefile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AD1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volatile memory.</a:t>
            </a:r>
            <a:endParaRPr sz="1200">
              <a:latin typeface="Times New Roman"/>
              <a:cs typeface="Times New Roman"/>
            </a:endParaRPr>
          </a:p>
          <a:p>
            <a:pPr marL="12700" marR="85090" algn="just">
              <a:lnSpc>
                <a:spcPct val="143800"/>
              </a:lnSpc>
              <a:spcBef>
                <a:spcPts val="605"/>
              </a:spcBef>
            </a:pPr>
            <a:r>
              <a:rPr sz="1200" b="1" spc="-10" dirty="0">
                <a:latin typeface="Times New Roman"/>
                <a:cs typeface="Times New Roman"/>
              </a:rPr>
              <a:t>Page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file: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(pagefile.sys)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Windows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volatile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limitation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random-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(RAM).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“C” </a:t>
            </a:r>
            <a:r>
              <a:rPr sz="1200" dirty="0">
                <a:latin typeface="Times New Roman"/>
                <a:cs typeface="Times New Roman"/>
              </a:rPr>
              <a:t>partition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capacity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exceeded.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spc="-10" dirty="0">
                <a:latin typeface="Times New Roman"/>
                <a:cs typeface="Times New Roman"/>
              </a:rPr>
              <a:t>recommended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acquisition.</a:t>
            </a:r>
            <a:endParaRPr sz="12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300"/>
              </a:lnSpc>
              <a:spcBef>
                <a:spcPts val="610"/>
              </a:spcBef>
            </a:pPr>
            <a:r>
              <a:rPr sz="1200" b="1" dirty="0">
                <a:latin typeface="Times New Roman"/>
                <a:cs typeface="Times New Roman"/>
              </a:rPr>
              <a:t>AD1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file: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AD1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AD1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later</a:t>
            </a:r>
            <a:r>
              <a:rPr sz="1200" spc="-20" dirty="0">
                <a:latin typeface="Times New Roman"/>
                <a:cs typeface="Times New Roman"/>
              </a:rPr>
              <a:t> use.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40"/>
              </a:spcBef>
            </a:pPr>
            <a:r>
              <a:rPr sz="1200" dirty="0">
                <a:latin typeface="Times New Roman"/>
                <a:cs typeface="Times New Roman"/>
              </a:rPr>
              <a:t>Clicking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“capture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memory”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735" y="6529451"/>
            <a:ext cx="3023616" cy="14535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8204" y="8283752"/>
            <a:ext cx="5704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NOTE: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acquisition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completed,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destination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acquired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“.mem”.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204" y="1289050"/>
            <a:ext cx="462470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volatile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(Disk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Imager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previously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stated,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well.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“Create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Image”.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2176145"/>
            <a:ext cx="4432173" cy="7327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8204" y="2954781"/>
            <a:ext cx="29063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acquire.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449481"/>
            <a:ext cx="3726179" cy="20831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8204" y="5581268"/>
            <a:ext cx="5820410" cy="201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3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NOTE: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acquiring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physical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drives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(physical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hard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drives),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drives </a:t>
            </a:r>
            <a:r>
              <a:rPr sz="1200" dirty="0">
                <a:latin typeface="Times New Roman"/>
                <a:cs typeface="Times New Roman"/>
              </a:rPr>
              <a:t>(partitions),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CDs/DVDs.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external </a:t>
            </a:r>
            <a:r>
              <a:rPr sz="1200" dirty="0">
                <a:latin typeface="Times New Roman"/>
                <a:cs typeface="Times New Roman"/>
              </a:rPr>
              <a:t>HDDs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“logical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drive”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mounted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HDD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Collecting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Drives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“Physical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Drive”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“Finish”.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964" y="984506"/>
            <a:ext cx="3604260" cy="2132073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78204" y="3183762"/>
            <a:ext cx="5894070" cy="5323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43800"/>
              </a:lnSpc>
              <a:spcBef>
                <a:spcPts val="105"/>
              </a:spcBef>
            </a:pP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(dd):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commonly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raw </a:t>
            </a:r>
            <a:r>
              <a:rPr sz="1200" spc="-10" dirty="0">
                <a:latin typeface="Times New Roman"/>
                <a:cs typeface="Times New Roman"/>
              </a:rPr>
              <a:t>file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formatted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headers,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metadata,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magic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raw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typically includes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padding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intentionally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skipped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(i.e.,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device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acquisition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spatial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(relative </a:t>
            </a:r>
            <a:r>
              <a:rPr sz="1200" dirty="0">
                <a:latin typeface="Times New Roman"/>
                <a:cs typeface="Times New Roman"/>
              </a:rPr>
              <a:t>offsets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data).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605"/>
              </a:spcBef>
            </a:pPr>
            <a:r>
              <a:rPr sz="1200" dirty="0">
                <a:latin typeface="Times New Roman"/>
                <a:cs typeface="Times New Roman"/>
              </a:rPr>
              <a:t>SMART: This file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Linux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systems. This format keeps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disk </a:t>
            </a:r>
            <a:r>
              <a:rPr sz="1200" spc="-10" dirty="0">
                <a:latin typeface="Times New Roman"/>
                <a:cs typeface="Times New Roman"/>
              </a:rPr>
              <a:t>images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bitstreams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optional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compression.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13-byte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header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sections.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64-bit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offset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next </a:t>
            </a:r>
            <a:r>
              <a:rPr sz="1200" dirty="0">
                <a:latin typeface="Times New Roman"/>
                <a:cs typeface="Times New Roman"/>
              </a:rPr>
              <a:t>section,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64-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padding,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CRC,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addition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comments,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applicable.</a:t>
            </a:r>
            <a:endParaRPr sz="1200">
              <a:latin typeface="Times New Roman"/>
              <a:cs typeface="Times New Roman"/>
            </a:endParaRPr>
          </a:p>
          <a:p>
            <a:pPr marL="12700" marR="208279" algn="just">
              <a:lnSpc>
                <a:spcPct val="1435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E01: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proprietary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Guidance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Software’s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EnCase.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compresses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case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header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footer,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MD5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hash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stream.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case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acquisition,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examiner’s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</a:t>
            </a:r>
            <a:r>
              <a:rPr sz="1200" dirty="0">
                <a:latin typeface="Times New Roman"/>
                <a:cs typeface="Times New Roman"/>
              </a:rPr>
              <a:t>optional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password.</a:t>
            </a:r>
            <a:endParaRPr sz="1200">
              <a:latin typeface="Times New Roman"/>
              <a:cs typeface="Times New Roman"/>
            </a:endParaRPr>
          </a:p>
          <a:p>
            <a:pPr marL="12700" marR="112395" algn="just">
              <a:lnSpc>
                <a:spcPct val="1434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AFF: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Advance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Forensic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(AFF)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Simson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Garfinkel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Basis </a:t>
            </a:r>
            <a:r>
              <a:rPr sz="1200" dirty="0">
                <a:latin typeface="Times New Roman"/>
                <a:cs typeface="Times New Roman"/>
              </a:rPr>
              <a:t>Technology.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latest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AFF4.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lock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proprietary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properly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25"/>
              </a:spcBef>
            </a:pP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204" y="3429126"/>
            <a:ext cx="589153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Add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image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destination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(where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image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file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will</a:t>
            </a:r>
            <a:r>
              <a:rPr sz="1200" spc="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saved),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image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file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name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fragment size.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964" y="914400"/>
            <a:ext cx="3863340" cy="25298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6824853"/>
            <a:ext cx="5968365" cy="193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8100" algn="just">
              <a:lnSpc>
                <a:spcPct val="143400"/>
              </a:lnSpc>
              <a:spcBef>
                <a:spcPts val="85"/>
              </a:spcBef>
            </a:pPr>
            <a:r>
              <a:rPr sz="1200" spc="-10" dirty="0">
                <a:latin typeface="Times New Roman"/>
                <a:cs typeface="Times New Roman"/>
              </a:rPr>
              <a:t>Image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Fragment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(MB):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separate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save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destination.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fragmented </a:t>
            </a:r>
            <a:r>
              <a:rPr sz="1200" dirty="0">
                <a:latin typeface="Times New Roman"/>
                <a:cs typeface="Times New Roman"/>
              </a:rPr>
              <a:t>images,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fragment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“0”.</a:t>
            </a:r>
            <a:endParaRPr sz="1200">
              <a:latin typeface="Times New Roman"/>
              <a:cs typeface="Times New Roman"/>
            </a:endParaRPr>
          </a:p>
          <a:p>
            <a:pPr marL="88900" marR="153670" algn="just">
              <a:lnSpc>
                <a:spcPct val="1436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“verify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images after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 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created”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 will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once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recommended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option. However,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increase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taken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acquire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your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evidence,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especially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you’re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dealing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size.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329223"/>
            <a:ext cx="3497579" cy="25022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794" y="940914"/>
            <a:ext cx="4160520" cy="27928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964" y="3956684"/>
            <a:ext cx="4312920" cy="224792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57200" y="6618096"/>
            <a:ext cx="9525" cy="303530"/>
          </a:xfrm>
          <a:custGeom>
            <a:avLst/>
            <a:gdLst/>
            <a:ahLst/>
            <a:cxnLst/>
            <a:rect l="l" t="t" r="r" b="b"/>
            <a:pathLst>
              <a:path w="9525" h="303529">
                <a:moveTo>
                  <a:pt x="9143" y="0"/>
                </a:moveTo>
                <a:lnTo>
                  <a:pt x="0" y="0"/>
                </a:lnTo>
                <a:lnTo>
                  <a:pt x="0" y="303275"/>
                </a:lnTo>
                <a:lnTo>
                  <a:pt x="9143" y="303275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978204" y="6635877"/>
            <a:ext cx="1899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Click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“start”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start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acquiring.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680" y="6898767"/>
            <a:ext cx="2457449" cy="17659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8204" y="8728659"/>
            <a:ext cx="5893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acquired.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KARE|SoC|CSE|2026-</a:t>
            </a:r>
            <a:r>
              <a:rPr dirty="0"/>
              <a:t>2027|Digital</a:t>
            </a:r>
            <a:r>
              <a:rPr spc="-5" dirty="0"/>
              <a:t> </a:t>
            </a:r>
            <a:r>
              <a:rPr spc="-10" dirty="0"/>
              <a:t>Forensics|Lab|Ex.No.1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70FBB-B87A-8A47-10AF-A65D7EFFF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" y="0"/>
            <a:ext cx="7767594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3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DA7EE-340A-F363-6BF5-1E6FA8AA5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973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5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Ex.No.1 FTK Imager (1)</Template>
  <TotalTime>0</TotalTime>
  <Words>1112</Words>
  <Application>Microsoft Office PowerPoint</Application>
  <PresentationFormat>Custom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yadav</dc:creator>
  <cp:lastModifiedBy>Balaji yadav</cp:lastModifiedBy>
  <cp:revision>1</cp:revision>
  <dcterms:created xsi:type="dcterms:W3CDTF">2026-09-07T13:00:29Z</dcterms:created>
  <dcterms:modified xsi:type="dcterms:W3CDTF">2026-09-07T13:04:32Z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2026-08-31T00:00:00Z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2026-09-07T00:00:00Z</vt:filetime>
  </property>
  <property fmtid="{D5CDD505-2E9C-101B-9397-08002B2CF9AE}" pid="6" name="Producer">
    <vt:lpwstr>3-Heights(TM) PDF Security Shell 4.8.25.2 (http://www.pdf-tools.com)</vt:lpwstr>
  </property>
</Properties>
</file>